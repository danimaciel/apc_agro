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B2"/>
              </a:solidFill>
              <a:effectLst/>
            </c:spPr>
          </c:dPt>
          <c:dPt>
            <c:idx val="1"/>
            <c:bubble3D val="0"/>
            <c:spPr>
              <a:solidFill>
                <a:srgbClr val="B3822C"/>
              </a:solidFill>
              <a:effectLst/>
            </c:spPr>
          </c:dPt>
          <c:dPt>
            <c:idx val="2"/>
            <c:bubble3D val="0"/>
            <c:spPr>
              <a:solidFill>
                <a:srgbClr val="2E8B57"/>
              </a:solidFill>
              <a:effectLst/>
            </c:spPr>
          </c:dPt>
          <c:dPt>
            <c:idx val="3"/>
            <c:bubble3D val="0"/>
            <c:spPr>
              <a:solidFill>
                <a:srgbClr val="8C8C8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Diamond</c:v>
                </c:pt>
                <c:pt idx="1">
                  <c:v>Gold</c:v>
                </c:pt>
                <c:pt idx="2">
                  <c:v>Híbrido</c:v>
                </c:pt>
                <c:pt idx="3">
                  <c:v>Fechado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64809</c:v>
                </c:pt>
                <c:pt idx="1">
                  <c:v>38959</c:v>
                </c:pt>
                <c:pt idx="2">
                  <c:v>31816</c:v>
                </c:pt>
                <c:pt idx="3">
                  <c:v>27987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F2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 APC</c:v>
                </c:pt>
              </c:strCache>
            </c:strRef>
          </c:tx>
          <c:spPr>
            <a:solidFill>
              <a:srgbClr val="0F3D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D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7A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Global 2014</c:v>
                  </c:pt>
                  <c:pt idx="1">
                    <c:v>Global 2024</c:v>
                  </c:pt>
                  <c:pt idx="2">
                    <c:v>Brasil 2014</c:v>
                  </c:pt>
                  <c:pt idx="3">
                    <c:v>Brasil 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33.7</c:v>
                </c:pt>
                <c:pt idx="2">
                  <c:v>27.4</c:v>
                </c:pt>
                <c:pt idx="3">
                  <c:v>30.7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F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160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943600" cy="5943600"/>
          </a:xfrm>
          <a:prstGeom prst="ellipse">
            <a:avLst/>
          </a:prstGeom>
          <a:solidFill>
            <a:srgbClr val="0A2C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aberto e custo de publicação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pesquisa agrícola brasileira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periódicos, custo real de publicação e onde publicar sem pagar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Maciel Pinto  ·  Embrapa  ·  Reunião interna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em acesso aberto vem exigindo, cada vez mais, que o autor pague uma taxa de processamento (APC) — que pode passar de US$ 4.000 num único artigo.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vira um filtro invisível: quem tem orçamento pra pagar publica onde quer; quem não tem, se adapta.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0"/>
            <a:ext cx="4297680" cy="3108960"/>
          </a:xfrm>
          <a:prstGeom prst="roundRect">
            <a:avLst>
              <a:gd name="adj" fmla="val 3529"/>
            </a:avLst>
          </a:prstGeom>
          <a:solidFill>
            <a:srgbClr val="E7F2EC"/>
          </a:solidFill>
          <a:ln/>
        </p:spPr>
      </p:sp>
      <p:sp>
        <p:nvSpPr>
          <p:cNvPr id="5" name="Text 3"/>
          <p:cNvSpPr/>
          <p:nvPr/>
        </p:nvSpPr>
        <p:spPr>
          <a:xfrm>
            <a:off x="7543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veio a ideia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4380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Spadotti compartilhou uma iniciativa parecida (mais geral, todas as áreas) e propôs pensar numa versão focada em ciências agrárias e da terra.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pesquisa agrícola brasileira publica em acesso aberto — e quanto disso custa de verdade pro autor?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 escala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OpenAlex (CC0) · campo Agricultural and Biological Sciences · 2014–2024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3D6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193.202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com afiliação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3D6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8.848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periódicos distintos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3D6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série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(2014–2024)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F3D6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 acesso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duas camadas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(agregado)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 de fundo mundial, via contagens da própria API — sem baixar artigo por artigo.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52628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(registro completo)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49 campos de cada artigo com afiliação BR — é onde a análise detalhada acontece.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categorias, um eixo só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Cruzando se o periódico é de acesso aberto com se ele cobra do autor pra publicar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320040" cy="3200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Aberto, sem custo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148840"/>
            <a:ext cx="320040" cy="320040"/>
          </a:xfrm>
          <a:prstGeom prst="ellipse">
            <a:avLst/>
          </a:prstGeom>
          <a:solidFill>
            <a:srgbClr val="B3822C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0372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Aberto, com APC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51960"/>
            <a:ext cx="320040" cy="3200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Híbrido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4709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Fechado, com opção paga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251960"/>
            <a:ext cx="320040" cy="32004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Fechado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903720" y="4709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tradicional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retrato geral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163.571 artigos com periódico classificado (2014–2024)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920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56,7%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675120" y="2834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artigos saem em periódicos que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cobram nada do autor (Diamond + Fechado)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3566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8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43,3%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675120" y="4480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saem em periódicos que cobram APC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 + Híbrido) — mas nem todo mundo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do próprio bolso (slide 8)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Brasil chegou lá por outro caminho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artigos em periódicos que cobram APC (Gold + Híbrido), campo agrícola completo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3977640" cy="4297680"/>
          </a:xfrm>
          <a:prstGeom prst="roundRect">
            <a:avLst>
              <a:gd name="adj" fmla="val 2299"/>
            </a:avLst>
          </a:prstGeom>
          <a:solidFill>
            <a:srgbClr val="EAF0F7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mostra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423160"/>
            <a:ext cx="3520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mundo, a exposição ao modelo pago mais que dobrou (13% → 33,7%) — efeito do Plan S europeu.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ficou quase estável (27,4% → 30,7%). O país já tinha infraestrutura Diamond OA (SciELO, periódicos institucionais) antes do Plan S existir.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paga depende do assunto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artigos em periódicos que cobram APC, por tema (BERTopic, 62 tópicos, corpus completo)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descritivos (Brasil)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B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Gold+Híbrido — quase todo mundo publica de graça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medicinais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B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4652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"doméstico", concentrado em Diamond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 animal (dietas)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4160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38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mais "internacionalizado" — maior exposição a custo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Avicultura (frango, ovos)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84080" y="4160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38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predominância de periódicos Gold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7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"pago" é pago de verdade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Acordos transformativos CAPES (Springer Nature, Elsevier) cobrem o APC de autores vinculados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periódicos Gold/Híbrido do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corpus cobertos por acordo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18.058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publicados nesses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periódicos (2014–2024)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0" y="21945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+ 102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58952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periódicos via Springer Nature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via Elsevier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43,3%  →  32,6%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77840" y="44348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fatia que realmente sai do bolso do autor brasileiro cai quando contabilizamos a cobertura CAPES — de 43,3% (classificação bruta) para 32,6% (custo real).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está no 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AF0F7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74520"/>
            <a:ext cx="594360" cy="594360"/>
          </a:xfrm>
          <a:prstGeom prst="ellipse">
            <a:avLst/>
          </a:prstGeom>
          <a:solidFill>
            <a:srgbClr val="0F3D6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— panorama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2014–2024, mapa temático, comparação Brasil × Mundo, periódicos mais frequentes.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5120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danimaciel.github.io/apc_agro/dashboards/painel_apc.html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7F2E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874520"/>
            <a:ext cx="594360" cy="594360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publicar sem pagar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filtro entre os 4.534 periódicos onde a publicação em OA não custa nada — Diamond + cobertos por acordo CAPES.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5120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danimaciel.github.io/apc_agro/dashboards/onde_publicar.html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em aberto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Classificação de APC e cobertura CAPES são um retrato de hoje, aplicado a artigos de 2014–2024 (anacronismo temporal a resolver no método)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subfields de biologia geral ainda não foram formalmente excluídos do dataset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Wiley, IEEE e ACS ainda não entraram no cruzamento com acordos CAPES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Mapear acordos CAPES com Wiley, IEEE e ACS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788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Fechar a decisão sobre os subfields de biologia geral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Redigir o artigo científico para submissão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177272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apc_agro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A2C4F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ideias e provocações são bem-vindas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Maciel Pinto  ·  github.com/danimaciel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2026-08-03T14:22:16Z</dcterms:created>
  <dcterms:modified xsi:type="dcterms:W3CDTF">2026-08-03T14:22:16Z</dcterms:modified>
</cp:coreProperties>
</file>